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Competition or Chaos?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Donor fragmentation, aid effectiveness, and the local state — working meeting</a:t>
            </a:r>
            <a:br/>
            <a:br/>
            <a:r>
              <a:rPr/>
              <a:t>Sager &amp; Tobin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Does donor </a:t>
            </a:r>
            <a:r>
              <a:rPr b="1"/>
              <a:t>fragmentation</a:t>
            </a:r>
            <a:r>
              <a:rPr/>
              <a:t> (many uncoordinated donors in one place) help or hurt local development?</a:t>
            </a:r>
          </a:p>
          <a:p>
            <a:pPr lvl="0"/>
            <a:r>
              <a:rPr/>
              <a:t>Literature is split: </a:t>
            </a:r>
            <a:r>
              <a:rPr i="1"/>
              <a:t>competition</a:t>
            </a:r>
            <a:r>
              <a:rPr/>
              <a:t> (innovation, choice, less donor dominance) vs </a:t>
            </a:r>
            <a:r>
              <a:rPr i="1"/>
              <a:t>chaos</a:t>
            </a:r>
            <a:r>
              <a:rPr/>
              <a:t> (transaction costs, duplication, bypassed government).</a:t>
            </a:r>
          </a:p>
          <a:p>
            <a:pPr lvl="0"/>
            <a:r>
              <a:rPr/>
              <a:t>Our claim: the answer is </a:t>
            </a:r>
            <a:r>
              <a:rPr b="1"/>
              <a:t>conditional</a:t>
            </a:r>
            <a:r>
              <a:rPr/>
              <a:t> — on local </a:t>
            </a:r>
            <a:r>
              <a:rPr b="1"/>
              <a:t>state capacity</a:t>
            </a:r>
            <a:r>
              <a:rPr/>
              <a:t> — and has </a:t>
            </a:r>
            <a:r>
              <a:rPr b="1"/>
              <a:t>two faces</a:t>
            </a:r>
            <a:r>
              <a:rPr/>
              <a:t>, one </a:t>
            </a:r>
            <a:r>
              <a:rPr i="1"/>
              <a:t>material</a:t>
            </a:r>
            <a:r>
              <a:rPr/>
              <a:t> (growth/services) and one </a:t>
            </a:r>
            <a:r>
              <a:rPr i="1"/>
              <a:t>political</a:t>
            </a:r>
            <a:r>
              <a:rPr/>
              <a:t> (legitimacy).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started — and why we pivoted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Original design:</a:t>
            </a:r>
            <a:r>
              <a:rPr/>
              <a:t> admin-region panel, fragmentation → nightlights, shift-share IV.</a:t>
            </a:r>
          </a:p>
          <a:p>
            <a:pPr lvl="0"/>
            <a:r>
              <a:rPr/>
              <a:t>It did not survive honest scrutiny:</a:t>
            </a:r>
          </a:p>
          <a:p>
            <a:pPr lvl="1"/>
            <a:r>
              <a:rPr/>
              <a:t>panel had collapsed to a single cross-section; </a:t>
            </a:r>
            <a:r>
              <a:rPr>
                <a:latin typeface="Courier"/>
              </a:rPr>
              <a:t>log(y+0.01)</a:t>
            </a:r>
            <a:r>
              <a:rPr/>
              <a:t> fragile</a:t>
            </a:r>
          </a:p>
          <a:p>
            <a:pPr lvl="1"/>
            <a:r>
              <a:rPr/>
              <a:t>the fragmentation effect </a:t>
            </a:r>
            <a:r>
              <a:rPr b="1"/>
              <a:t>dies once aid is instrumented</a:t>
            </a:r>
          </a:p>
          <a:p>
            <a:pPr lvl="1"/>
            <a:r>
              <a:rPr/>
              <a:t>the descriptive correlation </a:t>
            </a:r>
            <a:r>
              <a:rPr b="1"/>
              <a:t>flips sign</a:t>
            </a:r>
            <a:r>
              <a:rPr/>
              <a:t> with a baseline control and </a:t>
            </a:r>
            <a:r>
              <a:rPr b="1"/>
              <a:t>washes out</a:t>
            </a:r>
            <a:r>
              <a:rPr/>
              <a:t> when coarsened</a:t>
            </a:r>
          </a:p>
          <a:p>
            <a:pPr lvl="0"/>
            <a:r>
              <a:rPr b="1"/>
              <a:t>Feasibility audit, the key discovery:</a:t>
            </a:r>
            <a:r>
              <a:rPr/>
              <a:t> in GODAD, only the </a:t>
            </a:r>
            <a:r>
              <a:rPr b="1"/>
              <a:t>World Bank is point-geocoded</a:t>
            </a:r>
            <a:r>
              <a:rPr/>
              <a:t> (99% of precise points). Every other donor is snapped to the district centroid.</a:t>
            </a:r>
          </a:p>
          <a:p>
            <a:pPr lvl="0"/>
            <a:r>
              <a:rPr/>
              <a:t>→ Fragmentation is </a:t>
            </a:r>
            <a:r>
              <a:rPr i="1"/>
              <a:t>not</a:t>
            </a:r>
            <a:r>
              <a:rPr/>
              <a:t> spatially resolvable. So we use what </a:t>
            </a:r>
            <a:r>
              <a:rPr i="1"/>
              <a:t>is</a:t>
            </a:r>
            <a:r>
              <a:rPr/>
              <a:t> precise.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Treatment:</a:t>
            </a:r>
            <a:r>
              <a:rPr/>
              <a:t> precisely located </a:t>
            </a:r>
            <a:r>
              <a:rPr b="1"/>
              <a:t>World Bank projects</a:t>
            </a:r>
            <a:r>
              <a:rPr/>
              <a:t> (7,600 sites, 32 countries, staggered arrivals 1995–2018) → event study.</a:t>
            </a:r>
          </a:p>
          <a:p>
            <a:pPr lvl="0"/>
            <a:r>
              <a:rPr b="1"/>
              <a:t>Moderators (district level):</a:t>
            </a:r>
            <a:r>
              <a:rPr/>
              <a:t> donor fragmentation (predetermined, non-WB) and state capacity.</a:t>
            </a:r>
          </a:p>
          <a:p>
            <a:pPr lvl="0"/>
            <a:r>
              <a:rPr b="1"/>
              <a:t>Outcomes:</a:t>
            </a:r>
            <a:r>
              <a:rPr/>
              <a:t> continuous, sensor-harmonized nightlights (Regan) </a:t>
            </a:r>
            <a:r>
              <a:rPr b="1"/>
              <a:t>and</a:t>
            </a:r>
            <a:r>
              <a:rPr/>
              <a:t> 146k georeferenced </a:t>
            </a:r>
            <a:r>
              <a:rPr b="1"/>
              <a:t>Afrobarometer</a:t>
            </a:r>
            <a:r>
              <a:rPr/>
              <a:t> respondents (the political side).</a:t>
            </a:r>
          </a:p>
          <a:p>
            <a:pPr lvl="0"/>
            <a:r>
              <a:rPr/>
              <a:t>Estimator: PPML (71% of cells are zero).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1 — World Bank aid raises local activity</a:t>
            </a:r>
          </a:p>
        </p:txBody>
      </p:sp>
      <p:pic>
        <p:nvPicPr>
          <p:cNvPr descr="../03_output/figs/fig1_wb_event_stu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7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Cumulating to ~</a:t>
            </a:r>
            <a:r>
              <a:rPr b="1"/>
              <a:t>+19%</a:t>
            </a:r>
            <a:r>
              <a:rPr/>
              <a:t> luminosity by year 10. </a:t>
            </a:r>
            <a:r>
              <a:rPr i="1"/>
              <a:t>Caveat:</a:t>
            </a:r>
            <a:r>
              <a:rPr/>
              <a:t> pooled pre-trends not perfectly flat → level effect </a:t>
            </a:r>
            <a:r>
              <a:rPr b="1"/>
              <a:t>suggestive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2 — Competition or Chaos: it depends on capacity</a:t>
            </a:r>
          </a:p>
        </p:txBody>
      </p:sp>
      <p:pic>
        <p:nvPicPr>
          <p:cNvPr descr="../03_output/figs/fig2_frag_x_capacity_nightligh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7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WB × fragmentation × capacity</a:t>
            </a:r>
            <a:r>
              <a:rPr/>
              <a:t> is </a:t>
            </a:r>
            <a:r>
              <a:rPr b="1"/>
              <a:t>positive and precise</a:t>
            </a:r>
            <a:r>
              <a:rPr/>
              <a:t>.</a:t>
            </a:r>
          </a:p>
          <a:p>
            <a:pPr lvl="0"/>
            <a:r>
              <a:rPr b="1"/>
              <a:t>Robust to the “is this just grid-cell power?” worry:</a:t>
            </a:r>
            <a:r>
              <a:rPr/>
              <a:t> re-estimated at the </a:t>
            </a:r>
            <a:r>
              <a:rPr b="1"/>
              <a:t>district</a:t>
            </a:r>
            <a:r>
              <a:rPr/>
              <a:t> level (honest N = 3,826; real controls) → </a:t>
            </a:r>
            <a:r>
              <a:rPr b="1"/>
              <a:t>+0.81, p = 0.0002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3 — More services, </a:t>
            </a:r>
            <a:r>
              <a:rPr i="1"/>
              <a:t>less</a:t>
            </a:r>
            <a:r>
              <a:rPr/>
              <a:t> trust</a:t>
            </a:r>
          </a:p>
        </p:txBody>
      </p:sp>
      <p:pic>
        <p:nvPicPr>
          <p:cNvPr descr="../03_output/figs/fig3_afro_material_vs_relation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Fragmentation → </a:t>
            </a:r>
            <a:r>
              <a:rPr b="1"/>
              <a:t>more</a:t>
            </a:r>
            <a:r>
              <a:rPr/>
              <a:t> services/facilities (counts) but </a:t>
            </a:r>
            <a:r>
              <a:rPr b="1"/>
              <a:t>less</a:t>
            </a:r>
            <a:r>
              <a:rPr/>
              <a:t> trust, responsiveness, contact with </a:t>
            </a:r>
            <a:r>
              <a:rPr b="1"/>
              <a:t>local</a:t>
            </a:r>
            <a:r>
              <a:rPr/>
              <a:t> government.</a:t>
            </a:r>
          </a:p>
          <a:p>
            <a:pPr lvl="0"/>
            <a:r>
              <a:rPr/>
              <a:t>The accountability cost nightlights cannot see.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legitimacy cost is </a:t>
            </a:r>
            <a:r>
              <a:rPr i="1"/>
              <a:t>universal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Unlike the growth effect, the trust erosion is </a:t>
            </a:r>
            <a:r>
              <a:rPr b="1"/>
              <a:t>not moderated by anything</a:t>
            </a:r>
            <a:r>
              <a:rPr/>
              <a:t> we tried:</a:t>
            </a:r>
          </a:p>
          <a:p>
            <a:pPr lvl="1"/>
            <a:r>
              <a:rPr/>
              <a:t>state capacity (survey </a:t>
            </a:r>
            <a:r>
              <a:rPr>
                <a:latin typeface="Courier"/>
              </a:rPr>
              <a:t>sgq</a:t>
            </a:r>
            <a:r>
              <a:rPr/>
              <a:t>) — circular for trust, so we use externals:</a:t>
            </a:r>
          </a:p>
          <a:p>
            <a:pPr lvl="1"/>
            <a:r>
              <a:rPr b="1"/>
              <a:t>distance-to-core</a:t>
            </a:r>
            <a:r>
              <a:rPr/>
              <a:t> (state reach) → null</a:t>
            </a:r>
          </a:p>
          <a:p>
            <a:pPr lvl="1"/>
            <a:r>
              <a:rPr b="1"/>
              <a:t>pre-colonial centralization</a:t>
            </a:r>
            <a:r>
              <a:rPr/>
              <a:t> (Murdock) → null</a:t>
            </a:r>
          </a:p>
          <a:p>
            <a:pPr lvl="1"/>
            <a:r>
              <a:rPr b="1"/>
              <a:t>sector</a:t>
            </a:r>
            <a:r>
              <a:rPr/>
              <a:t> (horse race across health/educ/humanitarian/infra/gov-support) → negative everywhere</a:t>
            </a:r>
          </a:p>
          <a:p>
            <a:pPr lvl="0"/>
            <a:r>
              <a:rPr/>
              <a:t>→ </a:t>
            </a:r>
            <a:r>
              <a:rPr i="1"/>
              <a:t>Wherever and in whatever form many uncoordinated donors operate, citizens trust local government less.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 the sector angle (our focus last time)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We built sector-specific district fragmentation and tested the </a:t>
            </a:r>
            <a:r>
              <a:rPr b="1"/>
              <a:t>bypass</a:t>
            </a:r>
            <a:r>
              <a:rPr/>
              <a:t> mechanism: does fragmentation in NGO-delivered social sectors erode trust, while government-channeled aid does not?</a:t>
            </a:r>
          </a:p>
          <a:p>
            <a:pPr lvl="0"/>
            <a:r>
              <a:rPr b="1"/>
              <a:t>Horse race → trust</a:t>
            </a:r>
            <a:r>
              <a:rPr/>
              <a:t> (jointly, sector-frags only weakly correlated):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humanitarian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gov_support (channeled)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education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infrastructure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clean “bypass-of-services” story </a:t>
            </a:r>
            <a:r>
              <a:rPr b="1"/>
              <a:t>does not hold</a:t>
            </a:r>
            <a:r>
              <a:rPr/>
              <a:t> — governance-channeled aid is the </a:t>
            </a:r>
            <a:r>
              <a:rPr i="1"/>
              <a:t>strongest</a:t>
            </a:r>
            <a:r>
              <a:rPr/>
              <a:t> negative.</a:t>
            </a:r>
          </a:p>
          <a:p>
            <a:pPr lvl="0"/>
            <a:r>
              <a:rPr b="1"/>
              <a:t>But two things have merit for us to discuss:</a:t>
            </a:r>
          </a:p>
          <a:p>
            <a:pPr lvl="1"/>
            <a:r>
              <a:rPr/>
              <a:t>the effect is in </a:t>
            </a:r>
            <a:r>
              <a:rPr i="1"/>
              <a:t>every</a:t>
            </a:r>
            <a:r>
              <a:rPr/>
              <a:t> sector → strong </a:t>
            </a:r>
            <a:r>
              <a:rPr b="1"/>
              <a:t>generality</a:t>
            </a:r>
            <a:r>
              <a:rPr/>
              <a:t> (supports the universal-legitimacy result)</a:t>
            </a:r>
          </a:p>
          <a:p>
            <a:pPr lvl="1"/>
            <a:r>
              <a:rPr b="1"/>
              <a:t>gov-support fragmentation is the most corrosive</a:t>
            </a:r>
            <a:r>
              <a:rPr/>
              <a:t> → a </a:t>
            </a:r>
            <a:r>
              <a:rPr i="1"/>
              <a:t>different</a:t>
            </a:r>
            <a:r>
              <a:rPr/>
              <a:t>, sharper mechanism: fragmented donor involvement in </a:t>
            </a:r>
            <a:r>
              <a:rPr b="1"/>
              <a:t>governance itself</a:t>
            </a:r>
            <a:r>
              <a:rPr/>
              <a:t> undermines the state’s standing. Worth developing?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robust vs. fragile (be honest)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 ↑ / legitimacy ↓ divergence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Solid</a:t>
                      </a:r>
                      <a:r>
                        <a:rPr/>
                        <a:t> (multiple FE, both signs)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Legitimacy cost is universal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Solid</a:t>
                      </a:r>
                      <a:r>
                        <a:rPr/>
                        <a:t> (2 external proxies + sector all 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WB × frag × capacity (material)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Robust</a:t>
                      </a:r>
                      <a:r>
                        <a:rPr/>
                        <a:t> to N/scale/unit; specific to contemporary capacity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WB level effect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Suggestive (pre-trends not flat)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“Fragmentation lowers growth” (unconditional)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Dead</a:t>
                      </a:r>
                      <a:r>
                        <a:rPr/>
                        <a:t> (sign/scale fragile)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Framing:</a:t>
            </a:r>
            <a:r>
              <a:rPr/>
              <a:t> lead with the </a:t>
            </a:r>
            <a:r>
              <a:rPr i="1"/>
              <a:t>divergence + universality</a:t>
            </a:r>
            <a:r>
              <a:rPr/>
              <a:t> (most robust), or the </a:t>
            </a:r>
            <a:r>
              <a:rPr i="1"/>
              <a:t>capacity-conditional</a:t>
            </a:r>
            <a:r>
              <a:rPr/>
              <a:t> “Competition or Chaos” (more classic)? — they’re complementary.</a:t>
            </a:r>
          </a:p>
          <a:p>
            <a:pPr lvl="0" indent="-342900" marL="342900">
              <a:buAutoNum type="arabicPeriod"/>
            </a:pPr>
            <a:r>
              <a:rPr b="1"/>
              <a:t>Sector direction:</a:t>
            </a:r>
            <a:r>
              <a:rPr/>
              <a:t> develop the </a:t>
            </a:r>
            <a:r>
              <a:rPr b="1"/>
              <a:t>governance-aid</a:t>
            </a:r>
            <a:r>
              <a:rPr/>
              <a:t> mechanism (gov-support most corrosive), or keep sectors as a generality/robustness result?</a:t>
            </a:r>
          </a:p>
          <a:p>
            <a:pPr lvl="0" indent="-342900" marL="342900">
              <a:buAutoNum type="arabicPeriod"/>
            </a:pPr>
            <a:r>
              <a:rPr b="1"/>
              <a:t>Identification to-do (Ethan setting up HPC):</a:t>
            </a:r>
            <a:r>
              <a:rPr/>
              <a:t> native-resolution pre-trend de-trending + Rambachan–Roth sensitivity for the WB level effect.</a:t>
            </a:r>
          </a:p>
          <a:p>
            <a:pPr lvl="0" indent="-342900" marL="342900">
              <a:buAutoNum type="arabicPeriod"/>
            </a:pPr>
            <a:r>
              <a:rPr/>
              <a:t>External institutional measure for the legitimacy×capacity question (Murdock null — is it attenuation or real?).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Competition or Chaos?</dc:title>
  <dc:creator>Sager &amp; Tobin</dc:creator>
  <cp:keywords/>
  <dcterms:created xsi:type="dcterms:W3CDTF">2026-06-10T15:06:05Z</dcterms:created>
  <dcterms:modified xsi:type="dcterms:W3CDTF">2026-06-10T15:06:05Z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2026-06-10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Donor fragmentation, aid effectiveness, and the local state — working meeting</vt:lpwstr>
  </property>
  <property fmtid="{D5CDD505-2E9C-101B-9397-08002B2CF9AE}" pid="12" name="toc-title">
    <vt:lpwstr>Table of contents</vt:lpwstr>
  </property>
</Properties>
</file>